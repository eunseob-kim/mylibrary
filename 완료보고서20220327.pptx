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notesMasterIdLst>
    <p:notesMasterId r:id="rId30"/>
  </p:notesMasterIdLst>
  <p:handoutMasterIdLst>
    <p:handoutMasterId r:id="rId31"/>
  </p:handoutMasterIdLst>
  <p:sldIdLst>
    <p:sldId id="621" r:id="rId2"/>
    <p:sldId id="628" r:id="rId3"/>
    <p:sldId id="629" r:id="rId4"/>
    <p:sldId id="622" r:id="rId5"/>
    <p:sldId id="631" r:id="rId6"/>
    <p:sldId id="662" r:id="rId7"/>
    <p:sldId id="665" r:id="rId8"/>
    <p:sldId id="664" r:id="rId9"/>
    <p:sldId id="655" r:id="rId10"/>
    <p:sldId id="669" r:id="rId11"/>
    <p:sldId id="637" r:id="rId12"/>
    <p:sldId id="635" r:id="rId13"/>
    <p:sldId id="634" r:id="rId14"/>
    <p:sldId id="636" r:id="rId15"/>
    <p:sldId id="641" r:id="rId16"/>
    <p:sldId id="652" r:id="rId17"/>
    <p:sldId id="642" r:id="rId18"/>
    <p:sldId id="643" r:id="rId19"/>
    <p:sldId id="638" r:id="rId20"/>
    <p:sldId id="639" r:id="rId21"/>
    <p:sldId id="648" r:id="rId22"/>
    <p:sldId id="640" r:id="rId23"/>
    <p:sldId id="644" r:id="rId24"/>
    <p:sldId id="650" r:id="rId25"/>
    <p:sldId id="645" r:id="rId26"/>
    <p:sldId id="667" r:id="rId27"/>
    <p:sldId id="647" r:id="rId28"/>
    <p:sldId id="623" r:id="rId29"/>
  </p:sldIdLst>
  <p:sldSz cx="9144000" cy="6858000" type="screen4x3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9F55D0B-A544-4038-9A2F-AAAB31D47BF6}">
          <p14:sldIdLst>
            <p14:sldId id="621"/>
            <p14:sldId id="628"/>
            <p14:sldId id="629"/>
            <p14:sldId id="622"/>
            <p14:sldId id="631"/>
            <p14:sldId id="662"/>
            <p14:sldId id="665"/>
            <p14:sldId id="664"/>
            <p14:sldId id="655"/>
            <p14:sldId id="669"/>
            <p14:sldId id="637"/>
            <p14:sldId id="635"/>
            <p14:sldId id="634"/>
            <p14:sldId id="636"/>
            <p14:sldId id="641"/>
            <p14:sldId id="652"/>
            <p14:sldId id="642"/>
            <p14:sldId id="643"/>
            <p14:sldId id="638"/>
            <p14:sldId id="639"/>
            <p14:sldId id="648"/>
            <p14:sldId id="640"/>
            <p14:sldId id="644"/>
            <p14:sldId id="650"/>
            <p14:sldId id="645"/>
            <p14:sldId id="667"/>
            <p14:sldId id="647"/>
            <p14:sldId id="6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4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6D9E"/>
    <a:srgbClr val="DDF0FF"/>
    <a:srgbClr val="FFFFFF"/>
    <a:srgbClr val="E1F2FF"/>
    <a:srgbClr val="AFDDFF"/>
    <a:srgbClr val="65BDFF"/>
    <a:srgbClr val="81C9FF"/>
    <a:srgbClr val="5BB9FF"/>
    <a:srgbClr val="004282"/>
    <a:srgbClr val="C9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307" autoAdjust="0"/>
    <p:restoredTop sz="76570" autoAdjust="0"/>
  </p:normalViewPr>
  <p:slideViewPr>
    <p:cSldViewPr>
      <p:cViewPr varScale="1">
        <p:scale>
          <a:sx n="114" d="100"/>
          <a:sy n="114" d="100"/>
        </p:scale>
        <p:origin x="3416" y="176"/>
      </p:cViewPr>
      <p:guideLst>
        <p:guide orient="horz" pos="184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6" d="100"/>
        <a:sy n="4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150" y="-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96C07-0DC3-4C62-BCF7-70DBBCAD0EBF}" type="datetimeFigureOut">
              <a:rPr lang="ko-KR" altLang="en-US" smtClean="0"/>
              <a:t>2022. 3. 27.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787DD1-AD38-4CC5-B155-C66420D647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7132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720A848-7230-43D4-A2A5-E6FC0865F938}" type="datetimeFigureOut">
              <a:rPr lang="ko-KR" altLang="en-US"/>
              <a:pPr>
                <a:defRPr/>
              </a:pPr>
              <a:t>2022. 3. 27.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89FAB7C-E7F7-49C7-AC98-875E2CB6EA4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501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aseline="0" dirty="0"/>
              <a:t>안녕하십니까 인턴 김은섭입니다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저희 팀은 </a:t>
            </a:r>
            <a:r>
              <a:rPr lang="ko-KR" altLang="en-US" baseline="0" dirty="0" err="1"/>
              <a:t>풋살장</a:t>
            </a:r>
            <a:r>
              <a:rPr lang="ko-KR" altLang="en-US" baseline="0" dirty="0"/>
              <a:t> 예약 프로그램을 주제로 프로젝트를 수행했습니다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팀원으로는 김은섭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노형준</a:t>
            </a:r>
            <a:r>
              <a:rPr lang="en-US" altLang="ko-KR" baseline="0" dirty="0"/>
              <a:t>, </a:t>
            </a:r>
            <a:r>
              <a:rPr lang="ko-KR" altLang="en-US" baseline="0" dirty="0"/>
              <a:t>최재민 인턴이 있고 발표 시작하겠습니다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669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발표 순서는 프로젝트 개요</a:t>
            </a:r>
            <a:r>
              <a:rPr lang="en-US" altLang="ko-KR" dirty="0"/>
              <a:t>, </a:t>
            </a:r>
            <a:r>
              <a:rPr lang="ko-KR" altLang="en-US" dirty="0"/>
              <a:t>간단한 기능 소개</a:t>
            </a:r>
            <a:r>
              <a:rPr lang="en-US" altLang="ko-KR" dirty="0"/>
              <a:t>,</a:t>
            </a:r>
            <a:r>
              <a:rPr lang="en-US" altLang="ko-KR" baseline="0" dirty="0"/>
              <a:t> </a:t>
            </a:r>
            <a:r>
              <a:rPr lang="ko-KR" altLang="en-US" baseline="0" dirty="0"/>
              <a:t>프로그램 시연</a:t>
            </a:r>
            <a:r>
              <a:rPr lang="en-US" altLang="ko-KR" baseline="0" dirty="0"/>
              <a:t>, </a:t>
            </a:r>
            <a:r>
              <a:rPr lang="ko-KR" altLang="en-US" baseline="0" dirty="0"/>
              <a:t>아쉬운 점</a:t>
            </a:r>
            <a:r>
              <a:rPr lang="en-US" altLang="ko-KR" baseline="0" dirty="0"/>
              <a:t>, Q&amp;A</a:t>
            </a:r>
            <a:r>
              <a:rPr lang="ko-KR" altLang="en-US" baseline="0" dirty="0"/>
              <a:t> 순서로 진행하겠습니다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659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 번째 프로젝트 개요입니다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679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</a:t>
            </a:r>
            <a:r>
              <a:rPr lang="ko-KR" altLang="en-US" baseline="0" dirty="0"/>
              <a:t>의 프로그램 이름은 </a:t>
            </a:r>
            <a:r>
              <a:rPr lang="ko-KR" altLang="en-US" baseline="0" dirty="0" err="1"/>
              <a:t>단똑인데</a:t>
            </a:r>
            <a:r>
              <a:rPr lang="ko-KR" altLang="en-US" baseline="0" dirty="0"/>
              <a:t> </a:t>
            </a:r>
            <a:r>
              <a:rPr lang="ko-KR" altLang="en-US" dirty="0"/>
              <a:t>경상도 사투리로 </a:t>
            </a:r>
            <a:r>
              <a:rPr lang="en-US" altLang="ko-KR" dirty="0"/>
              <a:t>“</a:t>
            </a:r>
            <a:r>
              <a:rPr lang="ko-KR" altLang="en-US" dirty="0" err="1"/>
              <a:t>단디</a:t>
            </a:r>
            <a:r>
              <a:rPr lang="ko-KR" altLang="en-US" dirty="0"/>
              <a:t> </a:t>
            </a:r>
            <a:r>
              <a:rPr lang="ko-KR" altLang="en-US" dirty="0" err="1"/>
              <a:t>똑디</a:t>
            </a:r>
            <a:r>
              <a:rPr lang="ko-KR" altLang="en-US" dirty="0"/>
              <a:t> 차라</a:t>
            </a:r>
            <a:r>
              <a:rPr lang="en-US" altLang="ko-KR" dirty="0"/>
              <a:t>”</a:t>
            </a:r>
            <a:r>
              <a:rPr lang="ko-KR" altLang="en-US" dirty="0"/>
              <a:t>라는 의미로 </a:t>
            </a:r>
            <a:r>
              <a:rPr lang="ko-KR" altLang="en-US" dirty="0" err="1"/>
              <a:t>단똑이라고</a:t>
            </a:r>
            <a:r>
              <a:rPr lang="ko-KR" altLang="en-US" dirty="0"/>
              <a:t> 지었습니다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742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저희가 </a:t>
            </a:r>
            <a:r>
              <a:rPr lang="ko-KR" altLang="en-US" dirty="0" err="1"/>
              <a:t>풋살장</a:t>
            </a:r>
            <a:r>
              <a:rPr lang="ko-KR" altLang="en-US" dirty="0"/>
              <a:t> 예약 프로그램을 개발하게 된 배경으로는 </a:t>
            </a:r>
            <a:endParaRPr lang="en-US" altLang="ko-KR" dirty="0"/>
          </a:p>
          <a:p>
            <a:r>
              <a:rPr lang="ko-KR" altLang="en-US" dirty="0"/>
              <a:t>첫째 인원 부족입니다</a:t>
            </a:r>
            <a:r>
              <a:rPr lang="en-US" altLang="ko-KR" dirty="0"/>
              <a:t>. </a:t>
            </a:r>
            <a:r>
              <a:rPr lang="ko-KR" altLang="en-US" dirty="0" err="1"/>
              <a:t>풋살을</a:t>
            </a:r>
            <a:r>
              <a:rPr lang="ko-KR" altLang="en-US" dirty="0"/>
              <a:t> 하려면 최소 </a:t>
            </a:r>
            <a:r>
              <a:rPr lang="en-US" altLang="ko-KR" dirty="0"/>
              <a:t>8</a:t>
            </a:r>
            <a:r>
              <a:rPr lang="ko-KR" altLang="en-US" dirty="0"/>
              <a:t>명은 모아야 경기를 할 수 있는데 친구들과 같이 하려면 약속</a:t>
            </a:r>
            <a:r>
              <a:rPr lang="ko-KR" altLang="en-US" baseline="0" dirty="0"/>
              <a:t> 시간을 맞추기가 힘들다는 것입니다</a:t>
            </a:r>
            <a:r>
              <a:rPr lang="en-US" altLang="ko-KR" baseline="0" dirty="0"/>
              <a:t>. </a:t>
            </a:r>
          </a:p>
          <a:p>
            <a:r>
              <a:rPr lang="ko-KR" altLang="en-US" baseline="0" dirty="0"/>
              <a:t>두번째로는 </a:t>
            </a:r>
            <a:r>
              <a:rPr lang="ko-KR" altLang="en-US" baseline="0" dirty="0" err="1"/>
              <a:t>풋살을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재밌게</a:t>
            </a:r>
            <a:r>
              <a:rPr lang="ko-KR" altLang="en-US" baseline="0" dirty="0"/>
              <a:t> 하려면 나보다 잘하는 사람보다는 나와 비슷한 수준의 경기력을 가진 사람과 해야 더 흥미를 느낀다고 생각했습니다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세번째로 </a:t>
            </a:r>
            <a:r>
              <a:rPr lang="ko-KR" altLang="en-US" baseline="0" dirty="0" err="1"/>
              <a:t>풋살장</a:t>
            </a:r>
            <a:r>
              <a:rPr lang="ko-KR" altLang="en-US" baseline="0" dirty="0"/>
              <a:t> 관리자의 예약 관리 </a:t>
            </a:r>
            <a:r>
              <a:rPr lang="ko-KR" altLang="en-US" baseline="0" dirty="0" err="1"/>
              <a:t>불편함입니다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전화로 </a:t>
            </a:r>
            <a:r>
              <a:rPr lang="ko-KR" altLang="en-US" baseline="0" dirty="0" err="1"/>
              <a:t>풋살장</a:t>
            </a:r>
            <a:r>
              <a:rPr lang="ko-KR" altLang="en-US" baseline="0" dirty="0"/>
              <a:t> 예약을 받아 수기로 기록하는 불편함을 개선하고 </a:t>
            </a:r>
            <a:r>
              <a:rPr lang="ko-KR" altLang="en-US" baseline="0" dirty="0" err="1"/>
              <a:t>풋살장의</a:t>
            </a:r>
            <a:r>
              <a:rPr lang="ko-KR" altLang="en-US" baseline="0" dirty="0"/>
              <a:t> 사용자 수와 수익의 통계를 간편하게 조회할 수 있도록 하기 위해서입니다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이러한 배경으로 바탕으로 </a:t>
            </a:r>
            <a:r>
              <a:rPr lang="ko-KR" altLang="en-US" baseline="0" dirty="0" err="1"/>
              <a:t>풋살장</a:t>
            </a:r>
            <a:r>
              <a:rPr lang="ko-KR" altLang="en-US" baseline="0" dirty="0"/>
              <a:t> 사용자와 관리자의 고충을 해결하고 더 많은 사람들이 </a:t>
            </a:r>
            <a:r>
              <a:rPr lang="ko-KR" altLang="en-US" baseline="0" dirty="0" err="1"/>
              <a:t>풋살을</a:t>
            </a:r>
            <a:r>
              <a:rPr lang="ko-KR" altLang="en-US" baseline="0" dirty="0"/>
              <a:t> 쉽게 할 수 있도록 하는 것을 목표로 프로젝트를 진행하게 되었습니다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891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팀원 역할입니다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팀원은 김은섭</a:t>
            </a:r>
            <a:r>
              <a:rPr lang="en-US" altLang="ko-KR" dirty="0"/>
              <a:t>, </a:t>
            </a:r>
            <a:r>
              <a:rPr lang="ko-KR" altLang="en-US" dirty="0" err="1"/>
              <a:t>노형준</a:t>
            </a:r>
            <a:r>
              <a:rPr lang="en-US" altLang="ko-KR" dirty="0"/>
              <a:t>,</a:t>
            </a:r>
            <a:r>
              <a:rPr lang="en-US" altLang="ko-KR" baseline="0" dirty="0"/>
              <a:t> </a:t>
            </a:r>
            <a:r>
              <a:rPr lang="ko-KR" altLang="en-US" baseline="0" dirty="0" err="1"/>
              <a:t>최재민</a:t>
            </a:r>
            <a:r>
              <a:rPr lang="ko-KR" altLang="en-US" baseline="0" dirty="0"/>
              <a:t> 인턴이 있습니다</a:t>
            </a:r>
            <a:r>
              <a:rPr lang="en-US" altLang="ko-KR" baseline="0" dirty="0"/>
              <a:t>.</a:t>
            </a:r>
          </a:p>
          <a:p>
            <a:r>
              <a:rPr lang="ko-KR" altLang="en-US" dirty="0"/>
              <a:t>우선 저는 메인</a:t>
            </a:r>
            <a:r>
              <a:rPr lang="ko-KR" altLang="en-US" baseline="0" dirty="0"/>
              <a:t> 화면</a:t>
            </a:r>
            <a:r>
              <a:rPr lang="en-US" altLang="ko-KR" baseline="0" dirty="0"/>
              <a:t>, </a:t>
            </a:r>
            <a:r>
              <a:rPr lang="ko-KR" altLang="en-US" baseline="0" dirty="0"/>
              <a:t>예약을 신청하는 기능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풋살장</a:t>
            </a:r>
            <a:r>
              <a:rPr lang="ko-KR" altLang="en-US" baseline="0" dirty="0"/>
              <a:t> 정보를 관리하는 기능</a:t>
            </a:r>
            <a:r>
              <a:rPr lang="en-US" altLang="ko-KR" baseline="0" dirty="0"/>
              <a:t>, </a:t>
            </a:r>
            <a:r>
              <a:rPr lang="ko-KR" altLang="en-US" baseline="0" dirty="0"/>
              <a:t>경기장 별로 예약 조회 및 등록을 하는 기능을 개발 하였고</a:t>
            </a:r>
            <a:r>
              <a:rPr lang="en-US" altLang="ko-KR" baseline="0" dirty="0"/>
              <a:t>,</a:t>
            </a:r>
          </a:p>
          <a:p>
            <a:r>
              <a:rPr lang="ko-KR" altLang="en-US" baseline="0" dirty="0" err="1"/>
              <a:t>노형준</a:t>
            </a:r>
            <a:r>
              <a:rPr lang="ko-KR" altLang="en-US" baseline="0" dirty="0"/>
              <a:t> 인턴은 </a:t>
            </a:r>
            <a:r>
              <a:rPr lang="ko-KR" altLang="en-US" baseline="0" dirty="0" err="1"/>
              <a:t>메인화면</a:t>
            </a:r>
            <a:r>
              <a:rPr lang="en-US" altLang="ko-KR" baseline="0" dirty="0"/>
              <a:t>, </a:t>
            </a:r>
            <a:r>
              <a:rPr lang="ko-KR" altLang="en-US" baseline="0" dirty="0"/>
              <a:t>자유게시판</a:t>
            </a:r>
            <a:r>
              <a:rPr lang="en-US" altLang="ko-KR" baseline="0" dirty="0"/>
              <a:t>, </a:t>
            </a:r>
            <a:r>
              <a:rPr lang="ko-KR" altLang="en-US" baseline="0" dirty="0"/>
              <a:t>용병 구인하는 기능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풋살장</a:t>
            </a:r>
            <a:r>
              <a:rPr lang="ko-KR" altLang="en-US" baseline="0" dirty="0"/>
              <a:t> 평점 관리와 나의 예약을 관리하는 기능을 개발하였고</a:t>
            </a:r>
            <a:r>
              <a:rPr lang="en-US" altLang="ko-KR" baseline="0" dirty="0"/>
              <a:t>,</a:t>
            </a:r>
          </a:p>
          <a:p>
            <a:r>
              <a:rPr lang="ko-KR" altLang="en-US" baseline="0" dirty="0" err="1"/>
              <a:t>최재민</a:t>
            </a:r>
            <a:r>
              <a:rPr lang="ko-KR" altLang="en-US" baseline="0" dirty="0"/>
              <a:t> 인턴은 </a:t>
            </a:r>
            <a:r>
              <a:rPr lang="ko-KR" altLang="en-US" baseline="0" dirty="0" err="1"/>
              <a:t>메인화면</a:t>
            </a:r>
            <a:r>
              <a:rPr lang="en-US" altLang="ko-KR" baseline="0" dirty="0"/>
              <a:t>, </a:t>
            </a:r>
            <a:r>
              <a:rPr lang="ko-KR" altLang="en-US" baseline="0" dirty="0"/>
              <a:t>로그인</a:t>
            </a:r>
            <a:r>
              <a:rPr lang="en-US" altLang="ko-KR" baseline="0" dirty="0"/>
              <a:t>, </a:t>
            </a:r>
            <a:r>
              <a:rPr lang="ko-KR" altLang="en-US" baseline="0" dirty="0"/>
              <a:t>회원가입</a:t>
            </a:r>
            <a:r>
              <a:rPr lang="en-US" altLang="ko-KR" baseline="0" dirty="0"/>
              <a:t>, </a:t>
            </a:r>
            <a:r>
              <a:rPr lang="ko-KR" altLang="en-US" baseline="0" dirty="0"/>
              <a:t>사용자 정보를 관리하는 기능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풋살장</a:t>
            </a:r>
            <a:r>
              <a:rPr lang="ko-KR" altLang="en-US" baseline="0" dirty="0"/>
              <a:t> 통계</a:t>
            </a:r>
            <a:r>
              <a:rPr lang="en-US" altLang="ko-KR" baseline="0" dirty="0"/>
              <a:t>, </a:t>
            </a:r>
            <a:r>
              <a:rPr lang="ko-KR" altLang="en-US" baseline="0" dirty="0"/>
              <a:t>나의 예약을 관리하는 기능을 개발하였습니다</a:t>
            </a:r>
            <a:r>
              <a:rPr lang="en-US" altLang="ko-KR" baseline="0" dirty="0"/>
              <a:t>.</a:t>
            </a:r>
          </a:p>
          <a:p>
            <a:r>
              <a:rPr lang="ko-KR" altLang="en-US" dirty="0"/>
              <a:t>그리고 화면 설계와 테이블 설계는 각자 자기가 맡은 기능에 따라 설계하고 회의를 하여 결정하였습니다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773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다음은 프로젝트 구축 단계에 대하여 말씀드리겠습니다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프로젝트 기간은 </a:t>
            </a: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18</a:t>
            </a:r>
            <a:r>
              <a:rPr lang="ko-KR" altLang="en-US" dirty="0"/>
              <a:t>일부터 </a:t>
            </a:r>
            <a:r>
              <a:rPr lang="en-US" altLang="ko-KR" dirty="0"/>
              <a:t>3</a:t>
            </a:r>
            <a:r>
              <a:rPr lang="ko-KR" altLang="en-US" dirty="0"/>
              <a:t>월 </a:t>
            </a:r>
            <a:r>
              <a:rPr lang="en-US" altLang="ko-KR" dirty="0"/>
              <a:t>30</a:t>
            </a:r>
            <a:r>
              <a:rPr lang="ko-KR" altLang="en-US" dirty="0" err="1"/>
              <a:t>일까지이고</a:t>
            </a:r>
            <a:r>
              <a:rPr lang="en-US" altLang="ko-KR" dirty="0"/>
              <a:t>, </a:t>
            </a:r>
            <a:r>
              <a:rPr lang="ko-KR" altLang="en-US" dirty="0"/>
              <a:t>이 기간 동안</a:t>
            </a:r>
            <a:r>
              <a:rPr lang="en-US" altLang="ko-KR" baseline="0" dirty="0"/>
              <a:t> </a:t>
            </a:r>
            <a:r>
              <a:rPr lang="ko-KR" altLang="en-US" dirty="0"/>
              <a:t>분석</a:t>
            </a:r>
            <a:r>
              <a:rPr lang="en-US" altLang="ko-KR" dirty="0"/>
              <a:t>,</a:t>
            </a:r>
            <a:r>
              <a:rPr lang="en-US" altLang="ko-KR" baseline="0" dirty="0"/>
              <a:t> </a:t>
            </a:r>
            <a:r>
              <a:rPr lang="ko-KR" altLang="en-US" baseline="0" dirty="0"/>
              <a:t>설계</a:t>
            </a:r>
            <a:r>
              <a:rPr lang="en-US" altLang="ko-KR" baseline="0" dirty="0"/>
              <a:t>, </a:t>
            </a:r>
            <a:r>
              <a:rPr lang="ko-KR" altLang="en-US" baseline="0" dirty="0"/>
              <a:t>개발</a:t>
            </a:r>
            <a:r>
              <a:rPr lang="en-US" altLang="ko-KR" baseline="0" dirty="0"/>
              <a:t>, </a:t>
            </a:r>
            <a:r>
              <a:rPr lang="ko-KR" altLang="en-US" baseline="0" dirty="0"/>
              <a:t>테스트 단계를 거쳤으며 각 단계별로 수행한 내용을 말씀드리겠습니다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baseline="0" dirty="0"/>
              <a:t>분석 단계에서는 </a:t>
            </a:r>
            <a:r>
              <a:rPr lang="ko-KR" altLang="en-US" baseline="0" dirty="0" err="1"/>
              <a:t>풋살장</a:t>
            </a:r>
            <a:r>
              <a:rPr lang="ko-KR" altLang="en-US" baseline="0" dirty="0"/>
              <a:t> 예약 프로그램에 필요한 요구사항을 팀원들과 회의를 통해 분석하여 요건정의서를 작성하고 수행계획서를 작성했습니다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baseline="0" dirty="0"/>
              <a:t>설계 단계에서는 일정관리를 위해 </a:t>
            </a:r>
            <a:r>
              <a:rPr lang="en-US" altLang="ko-KR" baseline="0" dirty="0"/>
              <a:t>WBS</a:t>
            </a:r>
            <a:r>
              <a:rPr lang="ko-KR" altLang="en-US" baseline="0" dirty="0"/>
              <a:t>를 작성하고 개발에 필요한 테이블과 화면을 설계하여 테이블 </a:t>
            </a:r>
            <a:r>
              <a:rPr lang="ko-KR" altLang="en-US" baseline="0" dirty="0" err="1"/>
              <a:t>정의서와</a:t>
            </a:r>
            <a:r>
              <a:rPr lang="ko-KR" altLang="en-US" baseline="0" dirty="0"/>
              <a:t> 화면 설계서를 작성했습니다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dirty="0"/>
              <a:t>개발 단계에서는 각자 맡은 파트</a:t>
            </a:r>
            <a:r>
              <a:rPr lang="ko-KR" altLang="en-US" baseline="0" dirty="0"/>
              <a:t> 별로 </a:t>
            </a:r>
            <a:r>
              <a:rPr lang="ko-KR" altLang="en-US" baseline="0" dirty="0" err="1"/>
              <a:t>프론트엔드와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백엔드를</a:t>
            </a:r>
            <a:r>
              <a:rPr lang="ko-KR" altLang="en-US" baseline="0" dirty="0"/>
              <a:t> 개발하고 테스트를 해보았습니다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baseline="0" dirty="0"/>
              <a:t>테스트 단계에서는 통합테스트 시나리오를 작성하여 시나리오 바탕으로 테스트를 진행해보았습니다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501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개발환경에 대해서 말씀드리겠습니다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프론트엔드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프레임워크는 </a:t>
            </a:r>
            <a:r>
              <a:rPr lang="en" altLang="ko-Kore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vue.js</a:t>
            </a:r>
            <a:r>
              <a:rPr lang="en" altLang="ko-Kore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백엔드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프레임워크는 </a:t>
            </a:r>
            <a:r>
              <a:rPr lang="en" altLang="ko-Kore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사용하였고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" altLang="ko-Kore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서버는 </a:t>
            </a:r>
            <a:r>
              <a:rPr lang="en" altLang="ko-Kore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MySQL, WAS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" altLang="ko-Kore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TOMCAT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사용했습니다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개발할 때 자바와 자바스크립트 언어를 사용했고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사용했던 툴은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비쥬얼스튜디오코드와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이클립스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개발하면서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형상관리는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사용하여 관리하였습니다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670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</a:t>
            </a:r>
            <a:r>
              <a:rPr lang="en-US" altLang="ko-KR" dirty="0"/>
              <a:t>ERD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총 </a:t>
            </a:r>
            <a:r>
              <a:rPr lang="en-US" altLang="ko-KR" dirty="0"/>
              <a:t>15</a:t>
            </a:r>
            <a:r>
              <a:rPr lang="ko-KR" altLang="en-US" dirty="0"/>
              <a:t>개의 테이블로 이루어져 있고 팀원들과 회의를 통해 더 나은 </a:t>
            </a:r>
            <a:r>
              <a:rPr lang="en-US" altLang="ko-KR" dirty="0"/>
              <a:t>DB</a:t>
            </a:r>
            <a:r>
              <a:rPr lang="ko-KR" altLang="en-US" dirty="0"/>
              <a:t>를 설계하고자 노력했습니다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1644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프로그램 유저로는 </a:t>
            </a:r>
            <a:r>
              <a:rPr lang="ko-KR" altLang="en-US" dirty="0" err="1"/>
              <a:t>풋살장</a:t>
            </a:r>
            <a:r>
              <a:rPr lang="ko-KR" altLang="en-US" dirty="0"/>
              <a:t> 관리자와 일반 사용자가 있습니다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풋살장</a:t>
            </a:r>
            <a:r>
              <a:rPr lang="ko-KR" altLang="en-US" dirty="0"/>
              <a:t> 관리자는 </a:t>
            </a:r>
            <a:r>
              <a:rPr lang="ko-KR" altLang="en-US" dirty="0" err="1"/>
              <a:t>풋살장</a:t>
            </a:r>
            <a:r>
              <a:rPr lang="ko-KR" altLang="en-US" dirty="0"/>
              <a:t> 관리와 경기장별 경기 관리</a:t>
            </a:r>
            <a:r>
              <a:rPr lang="en-US" altLang="ko-KR" dirty="0"/>
              <a:t>, </a:t>
            </a:r>
            <a:r>
              <a:rPr lang="ko-KR" altLang="en-US" dirty="0" err="1"/>
              <a:t>풋살장의</a:t>
            </a:r>
            <a:r>
              <a:rPr lang="ko-KR" altLang="en-US" dirty="0"/>
              <a:t> 통계와 평점을 조회할 수 있고</a:t>
            </a:r>
            <a:endParaRPr lang="en-US" altLang="ko-KR" dirty="0"/>
          </a:p>
          <a:p>
            <a:r>
              <a:rPr lang="ko-KR" altLang="en-US" dirty="0"/>
              <a:t>일반 사용자는 경기를 예약하고 내가 예약 했던 경기들을 관리할 수 있으며 자유게시판과 용병 구인 메뉴를 이용할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364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다음은</a:t>
            </a:r>
            <a:r>
              <a:rPr kumimoji="1" lang="ko-KR" altLang="en-US" dirty="0"/>
              <a:t> 시연하기 전에 간단하게 먼저 기능 소개해드리겠습니다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7860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로그인 화면 입니다</a:t>
            </a:r>
            <a:r>
              <a:rPr lang="en-US" altLang="ko-KR" dirty="0"/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로그인 화면에서 로그인과 회원가입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이메일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비밀번호 찾기를 이용할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8732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회원가입 화면입니다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회원가입은 일반사용자와 </a:t>
            </a:r>
            <a:r>
              <a:rPr lang="ko-KR" altLang="en-US" dirty="0" err="1"/>
              <a:t>풋살장</a:t>
            </a:r>
            <a:r>
              <a:rPr lang="ko-KR" altLang="en-US" dirty="0"/>
              <a:t> 관리자 두가지 유형으로 가입할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2517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이메일 및 비밀번호 찾기 입니다</a:t>
            </a:r>
            <a:r>
              <a:rPr lang="en-US" altLang="ko-KR" dirty="0"/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이메일이나 비밀번호를 분실 시에는 가입할 때 입력했던 정보를 이용하여 찾을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5471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로그인했을 때 나오는 메인 화면입니다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메인 화면에서는 내가 원하는 </a:t>
            </a:r>
            <a:r>
              <a:rPr lang="ko-KR" altLang="en-US" dirty="0" err="1"/>
              <a:t>풋살장을</a:t>
            </a:r>
            <a:r>
              <a:rPr lang="ko-KR" altLang="en-US" dirty="0"/>
              <a:t> 선택하여 원하는 날짜</a:t>
            </a:r>
            <a:r>
              <a:rPr lang="en-US" altLang="ko-KR" dirty="0"/>
              <a:t>,</a:t>
            </a:r>
            <a:r>
              <a:rPr lang="ko-KR" altLang="en-US" dirty="0"/>
              <a:t> 시간에 경기 예약을 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6807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예약 신청 화면입니다</a:t>
            </a:r>
            <a:r>
              <a:rPr lang="en-US" altLang="ko-KR" dirty="0"/>
              <a:t>. </a:t>
            </a:r>
            <a:r>
              <a:rPr lang="ko-KR" altLang="en-US" dirty="0"/>
              <a:t>메인 화면에서 신청을 클릭 했을 때 이동되는 화면입니다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예약 인원과 나의 수준을 선택한 후 경기를 신청할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4587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나의 예약 메뉴입니다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내가 신청했던 경기들을 조회할 수 있고</a:t>
            </a:r>
            <a:r>
              <a:rPr lang="en-US" altLang="ko-KR" dirty="0"/>
              <a:t>, </a:t>
            </a:r>
            <a:r>
              <a:rPr lang="ko-KR" altLang="en-US" dirty="0"/>
              <a:t>진행했던 경기의 </a:t>
            </a:r>
            <a:r>
              <a:rPr lang="ko-KR" altLang="en-US" dirty="0" err="1"/>
              <a:t>풋살장에</a:t>
            </a:r>
            <a:r>
              <a:rPr lang="ko-KR" altLang="en-US" dirty="0"/>
              <a:t> </a:t>
            </a:r>
            <a:r>
              <a:rPr lang="ko-KR" altLang="en-US" dirty="0" err="1"/>
              <a:t>별점과</a:t>
            </a:r>
            <a:r>
              <a:rPr lang="ko-KR" altLang="en-US" dirty="0"/>
              <a:t> 리뷰를 남길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7222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용병 구인 메뉴입니다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내가 예약했던 경기를 홍보할 수 있는 메뉴입니다</a:t>
            </a:r>
            <a:r>
              <a:rPr lang="en-US" altLang="ko-KR" dirty="0"/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홍보 등록을 클릭하여 나의 예약 리스트에서 아직 시작하지 않은 경기를 선택하여 홍보를 등록할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9410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 정보 메뉴입니다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내 정보 수정과 회원탈퇴를 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4324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풋살장</a:t>
            </a:r>
            <a:r>
              <a:rPr lang="ko-KR" altLang="en-US" dirty="0"/>
              <a:t> 정보 관리 메뉴입니다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풋살장의</a:t>
            </a:r>
            <a:r>
              <a:rPr lang="ko-KR" altLang="en-US" dirty="0"/>
              <a:t> 이미지를 등록하고 </a:t>
            </a:r>
            <a:r>
              <a:rPr lang="ko-KR" altLang="en-US" dirty="0" err="1"/>
              <a:t>풋살장</a:t>
            </a:r>
            <a:r>
              <a:rPr lang="ko-KR" altLang="en-US" dirty="0"/>
              <a:t> 통계를 조회할 수 있으며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6077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풋살장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정보 수정과 경기장 등록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평점을 조회할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5171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경기장별 예약 조회 및 등록 메뉴입니다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풋살장</a:t>
            </a:r>
            <a:r>
              <a:rPr lang="ko-KR" altLang="en-US" dirty="0"/>
              <a:t> 관리자가 예약을 받기 위해 </a:t>
            </a:r>
            <a:r>
              <a:rPr lang="ko-KR" altLang="en-US" dirty="0" err="1"/>
              <a:t>풋살장의</a:t>
            </a:r>
            <a:r>
              <a:rPr lang="ko-KR" altLang="en-US" dirty="0"/>
              <a:t> 경기를 일괄 등록할 수 있고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경기장마다 </a:t>
            </a:r>
            <a:r>
              <a:rPr lang="ko-KR" altLang="en-US"/>
              <a:t>예약한 예약자의 </a:t>
            </a:r>
            <a:r>
              <a:rPr lang="ko-KR" altLang="en-US" dirty="0"/>
              <a:t>정보를 조회할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973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</a:t>
            </a:r>
            <a:r>
              <a:rPr lang="ko-KR" altLang="en-US" dirty="0" err="1"/>
              <a:t>자유게시판입니다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사용자들이 자유롭게 소통할 수 있는 메뉴입니다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9777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게시글 조회화면 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댓글과 </a:t>
            </a:r>
            <a:r>
              <a:rPr lang="ko-KR" altLang="en-US" dirty="0" err="1"/>
              <a:t>대댓글을</a:t>
            </a:r>
            <a:r>
              <a:rPr lang="ko-KR" altLang="en-US" dirty="0"/>
              <a:t> 남길 수 있고</a:t>
            </a:r>
            <a:r>
              <a:rPr lang="en-US" altLang="ko-KR" dirty="0"/>
              <a:t>, </a:t>
            </a:r>
            <a:r>
              <a:rPr lang="ko-KR" altLang="en-US" dirty="0"/>
              <a:t>댓글에 </a:t>
            </a:r>
            <a:r>
              <a:rPr lang="ko-KR" altLang="en-US" dirty="0" err="1"/>
              <a:t>좋아요를</a:t>
            </a:r>
            <a:r>
              <a:rPr lang="ko-KR" altLang="en-US" dirty="0"/>
              <a:t> 클릭하여 </a:t>
            </a:r>
            <a:r>
              <a:rPr lang="ko-KR" altLang="en-US" dirty="0" err="1"/>
              <a:t>좋아요가</a:t>
            </a:r>
            <a:r>
              <a:rPr lang="ko-KR" altLang="en-US" dirty="0"/>
              <a:t> 가장 많은 댓글은 상단에 조회되게 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340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프로그램 시연입니다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 발표자 이어서 하겠습니다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5379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지금부터 </a:t>
            </a:r>
            <a:r>
              <a:rPr kumimoji="1" lang="en-US" altLang="ko-KR" dirty="0"/>
              <a:t>Q&amp;A </a:t>
            </a:r>
            <a:r>
              <a:rPr kumimoji="1" lang="ko-KR" altLang="en-US" dirty="0"/>
              <a:t>시간을 갖겠습니다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채팅창으로</a:t>
            </a:r>
            <a:r>
              <a:rPr kumimoji="1" lang="ko-KR" altLang="en-US" dirty="0"/>
              <a:t> 궁금한 점 말씀해주시면 </a:t>
            </a:r>
            <a:r>
              <a:rPr kumimoji="1" lang="ko-KR" altLang="en-US" dirty="0" err="1"/>
              <a:t>답변드리겠습니다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9FAB7C-E7F7-49C7-AC98-875E2CB6EA4C}" type="slidenum">
              <a:rPr lang="ko-KR" altLang="en-US" smtClean="0"/>
              <a:pPr>
                <a:defRPr/>
              </a:pPr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607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4610594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5487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5573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02573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1" r:id="rId2"/>
  </p:sldLayoutIdLst>
  <p:transition>
    <p:fade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4.jpe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g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18" y="5549524"/>
            <a:ext cx="9144000" cy="13084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2353" y="4365104"/>
            <a:ext cx="770485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5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인턴 김 은 섭</a:t>
            </a:r>
            <a:endParaRPr lang="en-US" altLang="ko-KR" sz="1500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/>
            <a:r>
              <a:rPr lang="ko-KR" altLang="en-US" sz="15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인턴 노 형 준</a:t>
            </a:r>
            <a:endParaRPr lang="en-US" altLang="ko-KR" sz="1500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/>
            <a:r>
              <a:rPr lang="ko-KR" altLang="en-US" sz="15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인턴 최 재 민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446848"/>
            <a:ext cx="2377440" cy="466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6184" y="2202072"/>
            <a:ext cx="51635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 err="1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풋살장</a:t>
            </a:r>
            <a:r>
              <a:rPr lang="ko-KR" altLang="en-US" sz="4000" b="1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예약 프로그램</a:t>
            </a:r>
            <a:endParaRPr lang="en-US" altLang="ko-KR" sz="4000" b="1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9901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18" y="5549524"/>
            <a:ext cx="9144000" cy="13084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520" y="364549"/>
            <a:ext cx="784887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b="1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549322"/>
            <a:ext cx="2161416" cy="42397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 bwMode="auto">
          <a:xfrm>
            <a:off x="332508" y="1124744"/>
            <a:ext cx="8559971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3568" y="1546334"/>
            <a:ext cx="475252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8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개요</a:t>
            </a:r>
            <a:endParaRPr lang="en-US" altLang="ko-KR" sz="2800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8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소개</a:t>
            </a:r>
            <a:endParaRPr lang="en-US" altLang="ko-KR" sz="2800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8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 시연</a:t>
            </a:r>
            <a:endParaRPr lang="en-US" altLang="ko-KR" sz="2800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8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아쉬운 점</a:t>
            </a:r>
            <a:endParaRPr lang="en-US" altLang="ko-KR" sz="2800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28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Q&amp;A</a:t>
            </a:r>
          </a:p>
          <a:p>
            <a:pPr marL="342900" indent="-342900">
              <a:buAutoNum type="arabicPeriod"/>
            </a:pPr>
            <a:endParaRPr lang="ko-KR" alt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7296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18" y="5549524"/>
            <a:ext cx="9144000" cy="13084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85902" y="2708920"/>
            <a:ext cx="40559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4000" b="1" dirty="0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개요</a:t>
            </a:r>
          </a:p>
        </p:txBody>
      </p:sp>
    </p:spTree>
    <p:extLst>
      <p:ext uri="{BB962C8B-B14F-4D97-AF65-F5344CB8AC3E}">
        <p14:creationId xmlns:p14="http://schemas.microsoft.com/office/powerpoint/2010/main" val="4255352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95536" y="980728"/>
            <a:ext cx="8352928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89247"/>
            <a:ext cx="3672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1-1. </a:t>
            </a:r>
            <a:r>
              <a:rPr lang="ko-KR" altLang="en-US" sz="2000" dirty="0" err="1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프로젝트명</a:t>
            </a:r>
            <a:endParaRPr lang="ko-KR" altLang="en-US" sz="2000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2" y="533815"/>
            <a:ext cx="1585352" cy="31097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1628800"/>
            <a:ext cx="3273295" cy="2196005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 bwMode="auto">
          <a:xfrm>
            <a:off x="1456120" y="3888487"/>
            <a:ext cx="6120680" cy="0"/>
          </a:xfrm>
          <a:prstGeom prst="line">
            <a:avLst/>
          </a:prstGeom>
          <a:solidFill>
            <a:srgbClr val="EAEAEA"/>
          </a:solidFill>
          <a:ln w="12700" cap="flat" cmpd="sng" algn="ctr">
            <a:gradFill flip="none" rotWithShape="1">
              <a:gsLst>
                <a:gs pos="10000">
                  <a:schemeClr val="accent6">
                    <a:lumMod val="0"/>
                    <a:lumOff val="100000"/>
                  </a:schemeClr>
                </a:gs>
                <a:gs pos="90000">
                  <a:schemeClr val="accent6">
                    <a:lumMod val="0"/>
                    <a:lumOff val="100000"/>
                  </a:schemeClr>
                </a:gs>
                <a:gs pos="48000">
                  <a:srgbClr val="9696C5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2987824" y="4293096"/>
            <a:ext cx="338437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4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</a:t>
            </a:r>
            <a:r>
              <a:rPr lang="ko-KR" altLang="en-US" sz="25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디</a:t>
            </a:r>
            <a:r>
              <a:rPr lang="ko-KR" altLang="en-US" sz="4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똑</a:t>
            </a:r>
            <a:r>
              <a:rPr lang="ko-KR" altLang="en-US" sz="25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디</a:t>
            </a:r>
            <a:r>
              <a:rPr lang="ko-KR" altLang="en-US" sz="25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차라</a:t>
            </a:r>
            <a:r>
              <a:rPr lang="en-US" altLang="ko-KR" sz="25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r>
              <a:rPr lang="en-US" altLang="ko-KR" sz="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”</a:t>
            </a:r>
            <a:endParaRPr lang="ko-KR" altLang="en-US" sz="5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5394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95536" y="980728"/>
            <a:ext cx="8352928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89247"/>
            <a:ext cx="3672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1-2. </a:t>
            </a:r>
            <a:r>
              <a:rPr lang="ko-KR" altLang="en-US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배경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2" y="533815"/>
            <a:ext cx="1585352" cy="310973"/>
          </a:xfrm>
          <a:prstGeom prst="rect">
            <a:avLst/>
          </a:prstGeom>
        </p:spPr>
      </p:pic>
      <p:sp>
        <p:nvSpPr>
          <p:cNvPr id="3" name="모서리가 둥근 직사각형 2"/>
          <p:cNvSpPr/>
          <p:nvPr/>
        </p:nvSpPr>
        <p:spPr bwMode="auto">
          <a:xfrm>
            <a:off x="539258" y="1406557"/>
            <a:ext cx="2376852" cy="2592288"/>
          </a:xfrm>
          <a:prstGeom prst="roundRect">
            <a:avLst/>
          </a:prstGeom>
          <a:solidFill>
            <a:srgbClr val="C9E8FF"/>
          </a:solidFill>
          <a:ln w="19050" cap="flat" cmpd="sng" algn="ctr">
            <a:noFill/>
            <a:prstDash val="solid"/>
            <a:round/>
            <a:headEnd type="none" w="med" len="med"/>
            <a:tailEnd type="triangle" w="sm" len="med"/>
          </a:ln>
          <a:effectLst>
            <a:outerShdw blurRad="63500" sx="102000" sy="102000" algn="ctr" rotWithShape="0">
              <a:srgbClr val="81C9FF">
                <a:alpha val="40000"/>
              </a:srgbClr>
            </a:outerShdw>
          </a:effectLst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모서리가 둥근 직사각형 5"/>
          <p:cNvSpPr/>
          <p:nvPr/>
        </p:nvSpPr>
        <p:spPr bwMode="auto">
          <a:xfrm>
            <a:off x="3383574" y="1406557"/>
            <a:ext cx="2376852" cy="2592288"/>
          </a:xfrm>
          <a:prstGeom prst="roundRect">
            <a:avLst/>
          </a:prstGeom>
          <a:solidFill>
            <a:srgbClr val="C9E8FF"/>
          </a:solidFill>
          <a:ln w="19050" cap="flat" cmpd="sng" algn="ctr">
            <a:noFill/>
            <a:prstDash val="solid"/>
            <a:round/>
            <a:headEnd type="none" w="med" len="med"/>
            <a:tailEnd type="triangle" w="sm" len="med"/>
          </a:ln>
          <a:effectLst>
            <a:outerShdw blurRad="63500" sx="102000" sy="102000" algn="ctr" rotWithShape="0">
              <a:srgbClr val="81C9FF">
                <a:alpha val="40000"/>
              </a:srgbClr>
            </a:outerShdw>
          </a:effectLst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모서리가 둥근 직사각형 8"/>
          <p:cNvSpPr/>
          <p:nvPr/>
        </p:nvSpPr>
        <p:spPr bwMode="auto">
          <a:xfrm>
            <a:off x="6227890" y="1406557"/>
            <a:ext cx="2376852" cy="2592288"/>
          </a:xfrm>
          <a:prstGeom prst="roundRect">
            <a:avLst/>
          </a:prstGeom>
          <a:solidFill>
            <a:srgbClr val="C9E8FF"/>
          </a:solidFill>
          <a:ln w="19050" cap="flat" cmpd="sng" algn="ctr">
            <a:noFill/>
            <a:prstDash val="solid"/>
            <a:round/>
            <a:headEnd type="none" w="med" len="med"/>
            <a:tailEnd type="triangle" w="sm" len="med"/>
          </a:ln>
          <a:effectLst>
            <a:outerShdw blurRad="63500" sx="102000" sy="102000" algn="ctr" rotWithShape="0">
              <a:srgbClr val="81C9FF">
                <a:alpha val="40000"/>
              </a:srgbClr>
            </a:outerShdw>
          </a:effectLst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모서리가 둥근 직사각형 9"/>
          <p:cNvSpPr/>
          <p:nvPr/>
        </p:nvSpPr>
        <p:spPr bwMode="auto">
          <a:xfrm>
            <a:off x="528139" y="5085184"/>
            <a:ext cx="8062677" cy="1368152"/>
          </a:xfrm>
          <a:prstGeom prst="roundRect">
            <a:avLst/>
          </a:prstGeom>
          <a:solidFill>
            <a:srgbClr val="C9E8FF"/>
          </a:solidFill>
          <a:ln w="19050" cap="flat" cmpd="sng" algn="ctr">
            <a:noFill/>
            <a:prstDash val="solid"/>
            <a:round/>
            <a:headEnd type="none" w="med" len="med"/>
            <a:tailEnd type="triangle" w="sm" len="med"/>
          </a:ln>
          <a:effectLst>
            <a:outerShdw blurRad="63500" sx="102000" sy="102000" algn="ctr" rotWithShape="0">
              <a:srgbClr val="81C9FF">
                <a:alpha val="4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ko-KR" altLang="en-US" dirty="0" err="1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풋살장</a:t>
            </a:r>
            <a:r>
              <a:rPr lang="ko-KR" altLang="en-US" dirty="0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사용자와 관리자의 고충 해결</a:t>
            </a:r>
            <a:r>
              <a:rPr lang="en-US" altLang="ko-KR" dirty="0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dirty="0">
              <a:solidFill>
                <a:srgbClr val="3A6D9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아래쪽 화살표 3"/>
          <p:cNvSpPr/>
          <p:nvPr/>
        </p:nvSpPr>
        <p:spPr bwMode="auto">
          <a:xfrm>
            <a:off x="4163433" y="4181974"/>
            <a:ext cx="792088" cy="720080"/>
          </a:xfrm>
          <a:prstGeom prst="downArrow">
            <a:avLst/>
          </a:prstGeom>
          <a:solidFill>
            <a:srgbClr val="61BBFF"/>
          </a:solidFill>
          <a:ln w="19050" cap="flat" cmpd="sng" algn="ctr">
            <a:noFill/>
            <a:prstDash val="solid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모서리가 둥근 직사각형 4"/>
          <p:cNvSpPr/>
          <p:nvPr/>
        </p:nvSpPr>
        <p:spPr bwMode="auto">
          <a:xfrm>
            <a:off x="845586" y="1543648"/>
            <a:ext cx="1764196" cy="432048"/>
          </a:xfrm>
          <a:prstGeom prst="roundRect">
            <a:avLst/>
          </a:prstGeom>
          <a:solidFill>
            <a:srgbClr val="E1F2FF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>
            <a:outerShdw blurRad="63500" sx="102000" sy="102000" algn="ctr" rotWithShape="0">
              <a:srgbClr val="33A8FF">
                <a:alpha val="4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인원 부족</a:t>
            </a:r>
          </a:p>
        </p:txBody>
      </p:sp>
      <p:sp>
        <p:nvSpPr>
          <p:cNvPr id="12" name="모서리가 둥근 직사각형 11"/>
          <p:cNvSpPr/>
          <p:nvPr/>
        </p:nvSpPr>
        <p:spPr bwMode="auto">
          <a:xfrm>
            <a:off x="3677379" y="1549228"/>
            <a:ext cx="1764196" cy="432048"/>
          </a:xfrm>
          <a:prstGeom prst="roundRect">
            <a:avLst/>
          </a:prstGeom>
          <a:solidFill>
            <a:srgbClr val="E1F2FF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>
            <a:outerShdw blurRad="63500" sx="102000" sy="102000" algn="ctr" rotWithShape="0">
              <a:srgbClr val="33A8FF">
                <a:alpha val="4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수준 차이</a:t>
            </a:r>
          </a:p>
        </p:txBody>
      </p:sp>
      <p:sp>
        <p:nvSpPr>
          <p:cNvPr id="13" name="모서리가 둥근 직사각형 12"/>
          <p:cNvSpPr/>
          <p:nvPr/>
        </p:nvSpPr>
        <p:spPr bwMode="auto">
          <a:xfrm>
            <a:off x="6534218" y="1543648"/>
            <a:ext cx="1764196" cy="432048"/>
          </a:xfrm>
          <a:prstGeom prst="roundRect">
            <a:avLst/>
          </a:prstGeom>
          <a:solidFill>
            <a:srgbClr val="E1F2FF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>
            <a:outerShdw blurRad="63500" sx="102000" sy="102000" algn="ctr" rotWithShape="0">
              <a:srgbClr val="33A8FF">
                <a:alpha val="4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예약 관리 고충</a:t>
            </a:r>
          </a:p>
        </p:txBody>
      </p:sp>
      <p:pic>
        <p:nvPicPr>
          <p:cNvPr id="21" name="그림 20" descr="텍스트이(가) 표시된 사진&#10;&#10;자동 생성된 설명">
            <a:extLst>
              <a:ext uri="{FF2B5EF4-FFF2-40B4-BE49-F238E27FC236}">
                <a16:creationId xmlns:a16="http://schemas.microsoft.com/office/drawing/2014/main" id="{2AFBE83A-67DF-4C96-92EC-6918E0BF53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76" y="2064714"/>
            <a:ext cx="1654416" cy="165441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506A8E55-19F5-41F6-8391-03FBC09686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477" y="2069084"/>
            <a:ext cx="1656000" cy="1656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A51E15E-769B-4A03-924B-53193ED1ED8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524" y="2058015"/>
            <a:ext cx="1656000" cy="16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652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95536" y="980728"/>
            <a:ext cx="8352928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89247"/>
            <a:ext cx="3672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1-3. </a:t>
            </a:r>
            <a:r>
              <a:rPr lang="ko-KR" altLang="en-US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팀원 역할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2" y="533815"/>
            <a:ext cx="1585352" cy="310973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F47FA326-F7DC-4B34-9F1F-C98082D16DEE}"/>
              </a:ext>
            </a:extLst>
          </p:cNvPr>
          <p:cNvGrpSpPr/>
          <p:nvPr/>
        </p:nvGrpSpPr>
        <p:grpSpPr>
          <a:xfrm>
            <a:off x="1005230" y="1356423"/>
            <a:ext cx="1368152" cy="1689647"/>
            <a:chOff x="611560" y="1295849"/>
            <a:chExt cx="1368152" cy="1689647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84C3432E-5B32-401C-BC07-401D4FA1322F}"/>
                </a:ext>
              </a:extLst>
            </p:cNvPr>
            <p:cNvSpPr/>
            <p:nvPr/>
          </p:nvSpPr>
          <p:spPr bwMode="auto">
            <a:xfrm>
              <a:off x="611560" y="1295849"/>
              <a:ext cx="1368152" cy="1322433"/>
            </a:xfrm>
            <a:prstGeom prst="ellipse">
              <a:avLst/>
            </a:prstGeom>
            <a:solidFill>
              <a:srgbClr val="DDF0FF"/>
            </a:solidFill>
            <a:ln w="19050" cap="flat" cmpd="sng" algn="ctr">
              <a:noFill/>
              <a:prstDash val="sysDash"/>
              <a:round/>
              <a:headEnd type="none" w="med" len="med"/>
              <a:tailEnd type="triangle" w="sm" len="med"/>
            </a:ln>
            <a:effectLst/>
          </p:spPr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002ECBA8-CA63-4376-86F8-7D056BF48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964" y="1562393"/>
              <a:ext cx="789344" cy="78934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A0A2A07-5AAE-4753-9F43-E7442010BE45}"/>
                </a:ext>
              </a:extLst>
            </p:cNvPr>
            <p:cNvSpPr txBox="1"/>
            <p:nvPr/>
          </p:nvSpPr>
          <p:spPr>
            <a:xfrm>
              <a:off x="823391" y="2646942"/>
              <a:ext cx="9444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rgbClr val="3A6D9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 은 섭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C593D41-DA07-4B58-ADAD-4B48D3DD8662}"/>
              </a:ext>
            </a:extLst>
          </p:cNvPr>
          <p:cNvGrpSpPr/>
          <p:nvPr/>
        </p:nvGrpSpPr>
        <p:grpSpPr>
          <a:xfrm>
            <a:off x="3887924" y="1390163"/>
            <a:ext cx="1368152" cy="1684518"/>
            <a:chOff x="611560" y="3152111"/>
            <a:chExt cx="1368152" cy="1684518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AFE9659-2A1E-4FA0-AABE-9ADF97708F68}"/>
                </a:ext>
              </a:extLst>
            </p:cNvPr>
            <p:cNvSpPr/>
            <p:nvPr/>
          </p:nvSpPr>
          <p:spPr bwMode="auto">
            <a:xfrm>
              <a:off x="611560" y="3152111"/>
              <a:ext cx="1368152" cy="1322433"/>
            </a:xfrm>
            <a:prstGeom prst="ellipse">
              <a:avLst/>
            </a:prstGeom>
            <a:solidFill>
              <a:srgbClr val="DDF0FF"/>
            </a:solidFill>
            <a:ln w="19050" cap="flat" cmpd="sng" algn="ctr">
              <a:noFill/>
              <a:prstDash val="sysDash"/>
              <a:round/>
              <a:headEnd type="none" w="med" len="med"/>
              <a:tailEnd type="triangle" w="sm" len="med"/>
            </a:ln>
            <a:effectLst/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467567C8-63A0-4F8D-BE80-1EE287B99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964" y="3407496"/>
              <a:ext cx="811661" cy="81166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333731A-52AB-4BD3-8563-5383C6F6B2FB}"/>
                </a:ext>
              </a:extLst>
            </p:cNvPr>
            <p:cNvSpPr txBox="1"/>
            <p:nvPr/>
          </p:nvSpPr>
          <p:spPr>
            <a:xfrm>
              <a:off x="823391" y="4498075"/>
              <a:ext cx="9444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rgbClr val="3A6D9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노 형 준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10A5E09F-2456-4CB0-A090-FEF97A436179}"/>
              </a:ext>
            </a:extLst>
          </p:cNvPr>
          <p:cNvGrpSpPr/>
          <p:nvPr/>
        </p:nvGrpSpPr>
        <p:grpSpPr>
          <a:xfrm>
            <a:off x="6792934" y="1356423"/>
            <a:ext cx="1368152" cy="1660987"/>
            <a:chOff x="611560" y="5008373"/>
            <a:chExt cx="1368152" cy="1660987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D4D2EA0-7964-4496-9B06-24FA799AF227}"/>
                </a:ext>
              </a:extLst>
            </p:cNvPr>
            <p:cNvSpPr/>
            <p:nvPr/>
          </p:nvSpPr>
          <p:spPr bwMode="auto">
            <a:xfrm>
              <a:off x="611560" y="5008373"/>
              <a:ext cx="1368152" cy="1322433"/>
            </a:xfrm>
            <a:prstGeom prst="ellipse">
              <a:avLst/>
            </a:prstGeom>
            <a:solidFill>
              <a:srgbClr val="DDF0FF"/>
            </a:solidFill>
            <a:ln w="19050" cap="flat" cmpd="sng" algn="ctr">
              <a:noFill/>
              <a:prstDash val="sysDash"/>
              <a:round/>
              <a:headEnd type="none" w="med" len="med"/>
              <a:tailEnd type="triangle" w="sm" len="med"/>
            </a:ln>
            <a:effectLst/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053D02C-9038-4301-8AFC-2D869F188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600" y="5287291"/>
              <a:ext cx="806006" cy="80600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77A021A-0190-4FED-921C-E3E2474F9741}"/>
                </a:ext>
              </a:extLst>
            </p:cNvPr>
            <p:cNvSpPr txBox="1"/>
            <p:nvPr/>
          </p:nvSpPr>
          <p:spPr>
            <a:xfrm>
              <a:off x="823390" y="6330806"/>
              <a:ext cx="9444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rgbClr val="3A6D9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 재 민</a:t>
              </a:r>
            </a:p>
          </p:txBody>
        </p:sp>
      </p:grpSp>
      <p:sp>
        <p:nvSpPr>
          <p:cNvPr id="25" name="모서리가 둥근 직사각형 8">
            <a:extLst>
              <a:ext uri="{FF2B5EF4-FFF2-40B4-BE49-F238E27FC236}">
                <a16:creationId xmlns:a16="http://schemas.microsoft.com/office/drawing/2014/main" id="{0F1F14DB-729B-4834-B9A1-630D46FD96F5}"/>
              </a:ext>
            </a:extLst>
          </p:cNvPr>
          <p:cNvSpPr/>
          <p:nvPr/>
        </p:nvSpPr>
        <p:spPr bwMode="auto">
          <a:xfrm>
            <a:off x="414900" y="3211772"/>
            <a:ext cx="2548812" cy="3035473"/>
          </a:xfrm>
          <a:prstGeom prst="roundRect">
            <a:avLst/>
          </a:prstGeom>
          <a:solidFill>
            <a:srgbClr val="C9E8FF"/>
          </a:solidFill>
          <a:ln w="19050" cap="flat" cmpd="sng" algn="ctr">
            <a:noFill/>
            <a:prstDash val="solid"/>
            <a:round/>
            <a:headEnd type="none" w="med" len="med"/>
            <a:tailEnd type="triangle" w="sm" len="med"/>
          </a:ln>
          <a:effectLst>
            <a:outerShdw blurRad="63500" sx="102000" sy="102000" algn="ctr" rotWithShape="0">
              <a:srgbClr val="AFDDFF"/>
            </a:outerShdw>
          </a:effectLst>
        </p:spPr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화면</a:t>
            </a:r>
            <a:endParaRPr lang="en-US" altLang="ko-KR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예약 신청</a:t>
            </a:r>
            <a:endParaRPr lang="en-US" altLang="ko-KR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풋살장</a:t>
            </a:r>
            <a:r>
              <a:rPr lang="ko-KR" altLang="en-US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정보 </a:t>
            </a:r>
            <a:endParaRPr lang="en-US" altLang="ko-KR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경기장별 예약 </a:t>
            </a:r>
            <a:endParaRPr lang="en-US" altLang="ko-KR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 및 등록</a:t>
            </a:r>
            <a:endParaRPr lang="en-US" altLang="ko-KR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모서리가 둥근 직사각형 8">
            <a:extLst>
              <a:ext uri="{FF2B5EF4-FFF2-40B4-BE49-F238E27FC236}">
                <a16:creationId xmlns:a16="http://schemas.microsoft.com/office/drawing/2014/main" id="{AD7593B2-B20F-45A5-AF4D-32E791BE13CA}"/>
              </a:ext>
            </a:extLst>
          </p:cNvPr>
          <p:cNvSpPr/>
          <p:nvPr/>
        </p:nvSpPr>
        <p:spPr bwMode="auto">
          <a:xfrm>
            <a:off x="3308752" y="3211771"/>
            <a:ext cx="2548812" cy="3035473"/>
          </a:xfrm>
          <a:prstGeom prst="roundRect">
            <a:avLst/>
          </a:prstGeom>
          <a:solidFill>
            <a:srgbClr val="C9E8FF"/>
          </a:solidFill>
          <a:ln w="19050" cap="flat" cmpd="sng" algn="ctr">
            <a:noFill/>
            <a:prstDash val="solid"/>
            <a:round/>
            <a:headEnd type="none" w="med" len="med"/>
            <a:tailEnd type="triangle" w="sm" len="med"/>
          </a:ln>
          <a:effectLst>
            <a:outerShdw blurRad="63500" sx="102000" sy="102000" algn="ctr" rotWithShape="0">
              <a:srgbClr val="AFDDFF"/>
            </a:outerShdw>
          </a:effectLst>
        </p:spPr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화면</a:t>
            </a:r>
            <a:endParaRPr lang="en-US" altLang="ko-KR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자유 게시판</a:t>
            </a:r>
            <a:endParaRPr lang="en-US" altLang="ko-KR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용병 구인</a:t>
            </a:r>
            <a:endParaRPr lang="en-US" altLang="ko-KR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풋살장 평점 관리</a:t>
            </a:r>
            <a:endParaRPr lang="en-US" altLang="ko-KR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나의 예약</a:t>
            </a:r>
            <a:endParaRPr lang="en-US" altLang="ko-KR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모서리가 둥근 직사각형 8">
            <a:extLst>
              <a:ext uri="{FF2B5EF4-FFF2-40B4-BE49-F238E27FC236}">
                <a16:creationId xmlns:a16="http://schemas.microsoft.com/office/drawing/2014/main" id="{7700ED6B-516A-47DB-A65C-D07F80F88427}"/>
              </a:ext>
            </a:extLst>
          </p:cNvPr>
          <p:cNvSpPr/>
          <p:nvPr/>
        </p:nvSpPr>
        <p:spPr bwMode="auto">
          <a:xfrm>
            <a:off x="6202604" y="3211770"/>
            <a:ext cx="2548812" cy="3035473"/>
          </a:xfrm>
          <a:prstGeom prst="roundRect">
            <a:avLst/>
          </a:prstGeom>
          <a:solidFill>
            <a:srgbClr val="C9E8FF"/>
          </a:solidFill>
          <a:ln w="19050" cap="flat" cmpd="sng" algn="ctr">
            <a:noFill/>
            <a:prstDash val="solid"/>
            <a:round/>
            <a:headEnd type="none" w="med" len="med"/>
            <a:tailEnd type="triangle" w="sm" len="med"/>
          </a:ln>
          <a:effectLst>
            <a:outerShdw blurRad="63500" sx="102000" sy="102000" algn="ctr" rotWithShape="0">
              <a:srgbClr val="AFDDFF"/>
            </a:outerShdw>
          </a:effectLst>
        </p:spPr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화면</a:t>
            </a:r>
            <a:endParaRPr lang="en-US" altLang="ko-KR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  <a:endParaRPr lang="en-US" altLang="ko-KR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  <a:endParaRPr lang="en-US" altLang="ko-KR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관리</a:t>
            </a:r>
            <a:endParaRPr lang="en-US" altLang="ko-KR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풋살장</a:t>
            </a:r>
            <a:r>
              <a:rPr lang="ko-KR" altLang="en-US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통계</a:t>
            </a:r>
            <a:endParaRPr lang="en-US" altLang="ko-KR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나의 예약</a:t>
            </a:r>
            <a:endParaRPr lang="en-US" altLang="ko-KR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286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95536" y="980728"/>
            <a:ext cx="8352928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89247"/>
            <a:ext cx="3672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1-4. </a:t>
            </a:r>
            <a:r>
              <a:rPr lang="ko-KR" altLang="en-US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구축 단계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2" y="533815"/>
            <a:ext cx="1585352" cy="31097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C8E6841-DD44-4E5B-B2F2-5463A1301AC4}"/>
              </a:ext>
            </a:extLst>
          </p:cNvPr>
          <p:cNvSpPr txBox="1"/>
          <p:nvPr/>
        </p:nvSpPr>
        <p:spPr>
          <a:xfrm>
            <a:off x="540321" y="1209158"/>
            <a:ext cx="2887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2022.01.18 ~ 2022.03.30</a:t>
            </a:r>
            <a:endParaRPr lang="ko-KR" altLang="en-US" b="1" dirty="0">
              <a:solidFill>
                <a:srgbClr val="3A6D9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1E4094B-467A-4E11-9913-65EBB8EA3198}"/>
              </a:ext>
            </a:extLst>
          </p:cNvPr>
          <p:cNvCxnSpPr>
            <a:stCxn id="4" idx="3"/>
            <a:endCxn id="23" idx="1"/>
          </p:cNvCxnSpPr>
          <p:nvPr/>
        </p:nvCxnSpPr>
        <p:spPr bwMode="auto">
          <a:xfrm flipV="1">
            <a:off x="3858991" y="2764124"/>
            <a:ext cx="1145058" cy="645"/>
          </a:xfrm>
          <a:prstGeom prst="straightConnector1">
            <a:avLst/>
          </a:prstGeom>
          <a:solidFill>
            <a:srgbClr val="EAEAEA"/>
          </a:solidFill>
          <a:ln w="76200" cap="flat" cmpd="sng" algn="ctr">
            <a:solidFill>
              <a:srgbClr val="004282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085772D-CFCF-483F-B8E7-7F357EAD5B8F}"/>
              </a:ext>
            </a:extLst>
          </p:cNvPr>
          <p:cNvGrpSpPr/>
          <p:nvPr/>
        </p:nvGrpSpPr>
        <p:grpSpPr>
          <a:xfrm>
            <a:off x="971662" y="1851524"/>
            <a:ext cx="2887329" cy="1826489"/>
            <a:chOff x="770597" y="1746527"/>
            <a:chExt cx="3297347" cy="204251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862A89B-374A-49B3-BB7F-B2F78ADC6866}"/>
                </a:ext>
              </a:extLst>
            </p:cNvPr>
            <p:cNvSpPr/>
            <p:nvPr/>
          </p:nvSpPr>
          <p:spPr bwMode="auto">
            <a:xfrm>
              <a:off x="770597" y="1746527"/>
              <a:ext cx="3297347" cy="2042513"/>
            </a:xfrm>
            <a:prstGeom prst="roundRect">
              <a:avLst/>
            </a:prstGeom>
            <a:solidFill>
              <a:srgbClr val="E1F2FF"/>
            </a:solidFill>
            <a:ln w="19050" cap="flat" cmpd="sng" algn="ctr">
              <a:noFill/>
              <a:prstDash val="sysDash"/>
              <a:round/>
              <a:headEnd type="none" w="med" len="med"/>
              <a:tailEnd type="triangle" w="sm" len="med"/>
            </a:ln>
            <a:effectLst/>
          </p:spPr>
          <p:txBody>
            <a:bodyPr rtlCol="0" anchor="t" anchorCtr="0"/>
            <a:lstStyle/>
            <a:p>
              <a:endParaRPr lang="ko-KR" altLang="en-US" dirty="0"/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4718B694-3CCD-408E-AF3D-3F64ABC26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594" y="1909974"/>
              <a:ext cx="432048" cy="43204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2638952-8D32-4DB2-AFD1-959CCB4F5B6A}"/>
                </a:ext>
              </a:extLst>
            </p:cNvPr>
            <p:cNvSpPr txBox="1"/>
            <p:nvPr/>
          </p:nvSpPr>
          <p:spPr>
            <a:xfrm>
              <a:off x="1331642" y="1956721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rgbClr val="3A6D9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분석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9B01119-BC1F-4EEA-9B22-A8E222E0A448}"/>
                </a:ext>
              </a:extLst>
            </p:cNvPr>
            <p:cNvSpPr txBox="1"/>
            <p:nvPr/>
          </p:nvSpPr>
          <p:spPr>
            <a:xfrm>
              <a:off x="992893" y="2341439"/>
              <a:ext cx="1571264" cy="783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rgbClr val="3A6D9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요건 정의서</a:t>
              </a:r>
              <a:endParaRPr lang="en-US" altLang="ko-KR" sz="1600" dirty="0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rgbClr val="3A6D9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수행계획서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5161B36-5601-453C-8D5E-47D5BA5097B6}"/>
              </a:ext>
            </a:extLst>
          </p:cNvPr>
          <p:cNvGrpSpPr/>
          <p:nvPr/>
        </p:nvGrpSpPr>
        <p:grpSpPr>
          <a:xfrm>
            <a:off x="5004049" y="1851524"/>
            <a:ext cx="2887200" cy="1825200"/>
            <a:chOff x="5004049" y="1746527"/>
            <a:chExt cx="3297347" cy="204251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8683DC1D-65F2-43AC-A063-C7A03DFF43B1}"/>
                </a:ext>
              </a:extLst>
            </p:cNvPr>
            <p:cNvSpPr/>
            <p:nvPr/>
          </p:nvSpPr>
          <p:spPr bwMode="auto">
            <a:xfrm>
              <a:off x="5004049" y="1746527"/>
              <a:ext cx="3297347" cy="2042513"/>
            </a:xfrm>
            <a:prstGeom prst="roundRect">
              <a:avLst/>
            </a:prstGeom>
            <a:solidFill>
              <a:srgbClr val="E1F2FF"/>
            </a:solidFill>
            <a:ln w="19050" cap="flat" cmpd="sng" algn="ctr">
              <a:noFill/>
              <a:prstDash val="sysDash"/>
              <a:round/>
              <a:headEnd type="none" w="med" len="med"/>
              <a:tailEnd type="triangle" w="sm" len="med"/>
            </a:ln>
            <a:effectLst/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6B34BCA1-57CC-477E-9823-798978212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9869" y="1909973"/>
              <a:ext cx="432000" cy="4320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D298843-3726-450B-828C-82DBDE46C611}"/>
                </a:ext>
              </a:extLst>
            </p:cNvPr>
            <p:cNvSpPr txBox="1"/>
            <p:nvPr/>
          </p:nvSpPr>
          <p:spPr>
            <a:xfrm>
              <a:off x="5611869" y="1960978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rgbClr val="3A6D9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7BB96B4-930A-4E62-8562-BFC9FC782C70}"/>
                </a:ext>
              </a:extLst>
            </p:cNvPr>
            <p:cNvSpPr txBox="1"/>
            <p:nvPr/>
          </p:nvSpPr>
          <p:spPr>
            <a:xfrm>
              <a:off x="5223107" y="2309659"/>
              <a:ext cx="1776448" cy="11526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rgbClr val="3A6D9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WBS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rgbClr val="3A6D9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테이블 정의서</a:t>
              </a:r>
              <a:endParaRPr lang="en-US" altLang="ko-KR" sz="1600" dirty="0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rgbClr val="3A6D9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 정의서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41564BD-D6EE-4439-A09A-27EAA871D09C}"/>
              </a:ext>
            </a:extLst>
          </p:cNvPr>
          <p:cNvGrpSpPr/>
          <p:nvPr/>
        </p:nvGrpSpPr>
        <p:grpSpPr>
          <a:xfrm>
            <a:off x="5004049" y="4434320"/>
            <a:ext cx="2887200" cy="1825200"/>
            <a:chOff x="770597" y="4410823"/>
            <a:chExt cx="3297347" cy="2042513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75E29854-F189-43B6-8BD8-78C214FD72DD}"/>
                </a:ext>
              </a:extLst>
            </p:cNvPr>
            <p:cNvSpPr/>
            <p:nvPr/>
          </p:nvSpPr>
          <p:spPr bwMode="auto">
            <a:xfrm>
              <a:off x="770597" y="4410823"/>
              <a:ext cx="3297347" cy="2042513"/>
            </a:xfrm>
            <a:prstGeom prst="roundRect">
              <a:avLst/>
            </a:prstGeom>
            <a:solidFill>
              <a:srgbClr val="E1F2FF"/>
            </a:solidFill>
            <a:ln w="19050" cap="flat" cmpd="sng" algn="ctr">
              <a:noFill/>
              <a:prstDash val="sysDash"/>
              <a:round/>
              <a:headEnd type="none" w="med" len="med"/>
              <a:tailEnd type="triangle" w="sm" len="med"/>
            </a:ln>
            <a:effectLst/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9ABED1BA-048A-4098-B5E4-003215A5E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594" y="4554839"/>
              <a:ext cx="432000" cy="4320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F0CCC1D-3ABF-47C1-9CBF-D75544744F8D}"/>
                </a:ext>
              </a:extLst>
            </p:cNvPr>
            <p:cNvSpPr txBox="1"/>
            <p:nvPr/>
          </p:nvSpPr>
          <p:spPr>
            <a:xfrm>
              <a:off x="1331642" y="460156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rgbClr val="3A6D9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660A064-26AA-4DBC-88EB-25FABCD0F8C8}"/>
                </a:ext>
              </a:extLst>
            </p:cNvPr>
            <p:cNvSpPr txBox="1"/>
            <p:nvPr/>
          </p:nvSpPr>
          <p:spPr>
            <a:xfrm>
              <a:off x="951623" y="5033562"/>
              <a:ext cx="1571264" cy="4140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rgbClr val="3A6D9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 구축</a:t>
              </a:r>
              <a:endParaRPr lang="en-US" altLang="ko-KR" sz="1600" dirty="0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A7E9DDE-DECE-4F3F-BBB2-0A898AFB1CB4}"/>
              </a:ext>
            </a:extLst>
          </p:cNvPr>
          <p:cNvGrpSpPr/>
          <p:nvPr/>
        </p:nvGrpSpPr>
        <p:grpSpPr>
          <a:xfrm>
            <a:off x="971662" y="4434320"/>
            <a:ext cx="2887200" cy="1825200"/>
            <a:chOff x="5004049" y="4410823"/>
            <a:chExt cx="3297347" cy="2042513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7A45C7FB-2B07-48B6-BD88-E655958A2638}"/>
                </a:ext>
              </a:extLst>
            </p:cNvPr>
            <p:cNvSpPr/>
            <p:nvPr/>
          </p:nvSpPr>
          <p:spPr bwMode="auto">
            <a:xfrm>
              <a:off x="5004049" y="4410823"/>
              <a:ext cx="3297347" cy="2042513"/>
            </a:xfrm>
            <a:prstGeom prst="roundRect">
              <a:avLst/>
            </a:prstGeom>
            <a:solidFill>
              <a:srgbClr val="E1F2FF"/>
            </a:solidFill>
            <a:ln w="19050" cap="flat" cmpd="sng" algn="ctr">
              <a:noFill/>
              <a:prstDash val="sysDash"/>
              <a:round/>
              <a:headEnd type="none" w="med" len="med"/>
              <a:tailEnd type="triangle" w="sm" len="med"/>
            </a:ln>
            <a:effectLst/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8D842C6-E9C1-4AE5-AF96-E78F671A9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9869" y="4554839"/>
              <a:ext cx="432000" cy="432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3E74BF1-7C50-4DBA-B1C0-940F78565BD2}"/>
                </a:ext>
              </a:extLst>
            </p:cNvPr>
            <p:cNvSpPr txBox="1"/>
            <p:nvPr/>
          </p:nvSpPr>
          <p:spPr>
            <a:xfrm>
              <a:off x="5611869" y="4601003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rgbClr val="3A6D9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테스트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729DC67-44AE-4390-8891-43E8AE599719}"/>
                </a:ext>
              </a:extLst>
            </p:cNvPr>
            <p:cNvSpPr txBox="1"/>
            <p:nvPr/>
          </p:nvSpPr>
          <p:spPr>
            <a:xfrm>
              <a:off x="5218745" y="5021908"/>
              <a:ext cx="2464136" cy="783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rgbClr val="3A6D9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 테스트 시나리오</a:t>
              </a:r>
              <a:endParaRPr lang="en-US" altLang="ko-KR" sz="1600" dirty="0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rgbClr val="3A6D9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매뉴얼</a:t>
              </a:r>
              <a:endParaRPr lang="en-US" altLang="ko-KR" sz="1600" dirty="0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DFB72A53-650D-4F05-BB10-30557BBEC097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 bwMode="auto">
          <a:xfrm>
            <a:off x="6447649" y="3676724"/>
            <a:ext cx="0" cy="757596"/>
          </a:xfrm>
          <a:prstGeom prst="straightConnector1">
            <a:avLst/>
          </a:prstGeom>
          <a:solidFill>
            <a:srgbClr val="EAEAEA"/>
          </a:solidFill>
          <a:ln w="76200" cap="flat" cmpd="sng" algn="ctr">
            <a:solidFill>
              <a:srgbClr val="00428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090956DE-1345-47B3-B40A-7945B22692C4}"/>
              </a:ext>
            </a:extLst>
          </p:cNvPr>
          <p:cNvCxnSpPr>
            <a:cxnSpLocks/>
            <a:stCxn id="25" idx="1"/>
            <a:endCxn id="24" idx="3"/>
          </p:cNvCxnSpPr>
          <p:nvPr/>
        </p:nvCxnSpPr>
        <p:spPr bwMode="auto">
          <a:xfrm flipH="1">
            <a:off x="3858862" y="5346920"/>
            <a:ext cx="1145187" cy="0"/>
          </a:xfrm>
          <a:prstGeom prst="straightConnector1">
            <a:avLst/>
          </a:prstGeom>
          <a:solidFill>
            <a:srgbClr val="EAEAEA"/>
          </a:solidFill>
          <a:ln w="76200" cap="flat" cmpd="sng" algn="ctr">
            <a:solidFill>
              <a:srgbClr val="004282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735868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 bwMode="auto">
          <a:xfrm>
            <a:off x="395536" y="980728"/>
            <a:ext cx="8352928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5536" y="489247"/>
            <a:ext cx="3672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1-5. </a:t>
            </a:r>
            <a:r>
              <a:rPr lang="ko-KR" altLang="en-US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개발환경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2" y="533815"/>
            <a:ext cx="1585352" cy="310973"/>
          </a:xfrm>
          <a:prstGeom prst="rect">
            <a:avLst/>
          </a:prstGeom>
        </p:spPr>
      </p:pic>
      <p:sp>
        <p:nvSpPr>
          <p:cNvPr id="12" name="모서리가 둥근 직사각형 8">
            <a:extLst>
              <a:ext uri="{FF2B5EF4-FFF2-40B4-BE49-F238E27FC236}">
                <a16:creationId xmlns:a16="http://schemas.microsoft.com/office/drawing/2014/main" id="{77D78A44-CF9E-4EC7-A5CC-3A5A05AD134E}"/>
              </a:ext>
            </a:extLst>
          </p:cNvPr>
          <p:cNvSpPr/>
          <p:nvPr/>
        </p:nvSpPr>
        <p:spPr bwMode="auto">
          <a:xfrm>
            <a:off x="1547664" y="4046343"/>
            <a:ext cx="2736304" cy="2305714"/>
          </a:xfrm>
          <a:prstGeom prst="roundRect">
            <a:avLst/>
          </a:prstGeom>
          <a:solidFill>
            <a:srgbClr val="E1F2FF"/>
          </a:solidFill>
          <a:ln w="19050" cap="flat" cmpd="sng" algn="ctr">
            <a:noFill/>
            <a:prstDash val="solid"/>
            <a:round/>
            <a:headEnd type="none" w="med" len="med"/>
            <a:tailEnd type="triangle" w="sm" len="med"/>
          </a:ln>
          <a:effectLst>
            <a:outerShdw blurRad="63500" sx="102000" sy="102000" algn="ctr" rotWithShape="0">
              <a:srgbClr val="AFDDFF"/>
            </a:outerShdw>
          </a:effectLst>
        </p:spPr>
        <p:txBody>
          <a:bodyPr rtlCol="0" anchor="t" anchorCtr="0"/>
          <a:lstStyle/>
          <a:p>
            <a:r>
              <a:rPr lang="en-US" altLang="ko-KR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Languages</a:t>
            </a:r>
          </a:p>
        </p:txBody>
      </p:sp>
      <p:sp>
        <p:nvSpPr>
          <p:cNvPr id="13" name="모서리가 둥근 직사각형 8">
            <a:extLst>
              <a:ext uri="{FF2B5EF4-FFF2-40B4-BE49-F238E27FC236}">
                <a16:creationId xmlns:a16="http://schemas.microsoft.com/office/drawing/2014/main" id="{95E69AD9-AD6B-4B5E-A1A3-C11F1C29BE42}"/>
              </a:ext>
            </a:extLst>
          </p:cNvPr>
          <p:cNvSpPr/>
          <p:nvPr/>
        </p:nvSpPr>
        <p:spPr bwMode="auto">
          <a:xfrm>
            <a:off x="1547664" y="1453680"/>
            <a:ext cx="6264696" cy="2305714"/>
          </a:xfrm>
          <a:prstGeom prst="roundRect">
            <a:avLst/>
          </a:prstGeom>
          <a:solidFill>
            <a:srgbClr val="E1F2FF"/>
          </a:solidFill>
          <a:ln w="19050" cap="flat" cmpd="sng" algn="ctr">
            <a:noFill/>
            <a:prstDash val="solid"/>
            <a:round/>
            <a:headEnd type="none" w="med" len="med"/>
            <a:tailEnd type="triangle" w="sm" len="med"/>
          </a:ln>
          <a:effectLst>
            <a:outerShdw blurRad="63500" sx="102000" sy="102000" algn="ctr" rotWithShape="0">
              <a:srgbClr val="AFDDFF"/>
            </a:outerShdw>
          </a:effectLst>
        </p:spPr>
        <p:txBody>
          <a:bodyPr rtlCol="0" anchor="t" anchorCtr="0"/>
          <a:lstStyle/>
          <a:p>
            <a:r>
              <a:rPr lang="en-US" altLang="ko-KR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Framework &amp; DB &amp; Server</a:t>
            </a:r>
          </a:p>
        </p:txBody>
      </p:sp>
      <p:sp>
        <p:nvSpPr>
          <p:cNvPr id="14" name="모서리가 둥근 직사각형 8">
            <a:extLst>
              <a:ext uri="{FF2B5EF4-FFF2-40B4-BE49-F238E27FC236}">
                <a16:creationId xmlns:a16="http://schemas.microsoft.com/office/drawing/2014/main" id="{DA3B4E0B-8129-4B4A-BC22-B6B8A60EE591}"/>
              </a:ext>
            </a:extLst>
          </p:cNvPr>
          <p:cNvSpPr/>
          <p:nvPr/>
        </p:nvSpPr>
        <p:spPr bwMode="auto">
          <a:xfrm>
            <a:off x="4469613" y="4046343"/>
            <a:ext cx="3342747" cy="2305714"/>
          </a:xfrm>
          <a:prstGeom prst="roundRect">
            <a:avLst/>
          </a:prstGeom>
          <a:solidFill>
            <a:srgbClr val="E1F2FF"/>
          </a:solidFill>
          <a:ln w="19050" cap="flat" cmpd="sng" algn="ctr">
            <a:noFill/>
            <a:prstDash val="solid"/>
            <a:round/>
            <a:headEnd type="none" w="med" len="med"/>
            <a:tailEnd type="triangle" w="sm" len="med"/>
          </a:ln>
          <a:effectLst>
            <a:outerShdw blurRad="63500" sx="102000" sy="102000" algn="ctr" rotWithShape="0">
              <a:srgbClr val="AFDDFF"/>
            </a:outerShdw>
          </a:effectLst>
        </p:spPr>
        <p:txBody>
          <a:bodyPr rtlCol="0" anchor="t" anchorCtr="0"/>
          <a:lstStyle/>
          <a:p>
            <a:r>
              <a:rPr lang="en-US" altLang="ko-KR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Tools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1A06C11-FE5C-4051-A58D-6EAE432D5F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423436"/>
            <a:ext cx="729358" cy="72935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84F8E49-614A-4E9F-AECB-C4736101EA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127" y="2322622"/>
            <a:ext cx="1319427" cy="83142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D7B8F6B-9C8C-45D4-B367-FC884A35BB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5481" y="2308109"/>
            <a:ext cx="951234" cy="133359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0A995FF-F152-4FEE-A62E-3B810D341C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786" y="2490118"/>
            <a:ext cx="1885283" cy="48478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5728310-452A-409C-997B-E09421FD20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543" y="4658839"/>
            <a:ext cx="729358" cy="138342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8D7F8D62-539A-4436-8428-470EE56EFD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969" y="4894297"/>
            <a:ext cx="942231" cy="942231"/>
          </a:xfrm>
          <a:prstGeom prst="rect">
            <a:avLst/>
          </a:prstGeom>
        </p:spPr>
      </p:pic>
      <p:pic>
        <p:nvPicPr>
          <p:cNvPr id="31" name="그래픽 30">
            <a:extLst>
              <a:ext uri="{FF2B5EF4-FFF2-40B4-BE49-F238E27FC236}">
                <a16:creationId xmlns:a16="http://schemas.microsoft.com/office/drawing/2014/main" id="{88258D68-AB88-464F-9C3D-4C85330D3D9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17062" y="5350553"/>
            <a:ext cx="1436606" cy="957737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7812614B-EDFF-420B-9B58-AF54CCEC535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20356" y="4535145"/>
            <a:ext cx="1436606" cy="71830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AC3F3F5-C026-445E-9624-6363E4EA4D5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992" y="4492735"/>
            <a:ext cx="1585352" cy="71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988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95536" y="980728"/>
            <a:ext cx="8352928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89247"/>
            <a:ext cx="3672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1-6. ERD</a:t>
            </a:r>
            <a:endParaRPr lang="ko-KR" altLang="en-US" sz="2000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2" y="533815"/>
            <a:ext cx="1585352" cy="31097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117818"/>
            <a:ext cx="7884368" cy="539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619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95536" y="980728"/>
            <a:ext cx="8352928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89247"/>
            <a:ext cx="3672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1-7. </a:t>
            </a:r>
            <a:r>
              <a:rPr lang="ko-KR" altLang="en-US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2" y="533815"/>
            <a:ext cx="1585352" cy="31097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27A56B1-DE7C-48DF-8EC1-F213D123D7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088" y="1772816"/>
            <a:ext cx="2303385" cy="23033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9B6F414-E0C9-4201-B68D-8D2FD13094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912" y="1772816"/>
            <a:ext cx="2304000" cy="2304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6A4A24-7435-41AA-B6AB-B78CD9BB132F}"/>
              </a:ext>
            </a:extLst>
          </p:cNvPr>
          <p:cNvSpPr txBox="1"/>
          <p:nvPr/>
        </p:nvSpPr>
        <p:spPr>
          <a:xfrm>
            <a:off x="1691680" y="4221088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풋살장</a:t>
            </a:r>
            <a:r>
              <a:rPr lang="ko-KR" altLang="en-US" b="1" dirty="0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관리자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3A25F8-34B2-4E4C-83C8-AE5B20F00DDE}"/>
              </a:ext>
            </a:extLst>
          </p:cNvPr>
          <p:cNvSpPr txBox="1"/>
          <p:nvPr/>
        </p:nvSpPr>
        <p:spPr>
          <a:xfrm>
            <a:off x="6166834" y="422108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</a:t>
            </a:r>
            <a:endParaRPr lang="ko-KR" altLang="en-US" b="1" dirty="0">
              <a:solidFill>
                <a:srgbClr val="3A6D9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34FF764-78D1-4994-8FA7-D98824B9D7D9}"/>
              </a:ext>
            </a:extLst>
          </p:cNvPr>
          <p:cNvSpPr/>
          <p:nvPr/>
        </p:nvSpPr>
        <p:spPr bwMode="auto">
          <a:xfrm>
            <a:off x="670478" y="4822570"/>
            <a:ext cx="3685498" cy="1270726"/>
          </a:xfrm>
          <a:prstGeom prst="roundRect">
            <a:avLst/>
          </a:prstGeom>
          <a:solidFill>
            <a:srgbClr val="E1F2FF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풋살장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경기장별 경기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통계 조회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 조회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E6DE023-B10D-43E2-BB67-B5A238C6DA79}"/>
              </a:ext>
            </a:extLst>
          </p:cNvPr>
          <p:cNvSpPr/>
          <p:nvPr/>
        </p:nvSpPr>
        <p:spPr bwMode="auto">
          <a:xfrm>
            <a:off x="4788024" y="4822569"/>
            <a:ext cx="3685498" cy="1270725"/>
          </a:xfrm>
          <a:prstGeom prst="roundRect">
            <a:avLst/>
          </a:prstGeom>
          <a:solidFill>
            <a:srgbClr val="E1F2FF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경기 예약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자유게시판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용병 구인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나의 예약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3034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18" y="5549524"/>
            <a:ext cx="9144000" cy="13084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53979" y="2780928"/>
            <a:ext cx="30299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4000" b="1" dirty="0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소개</a:t>
            </a:r>
          </a:p>
        </p:txBody>
      </p:sp>
    </p:spTree>
    <p:extLst>
      <p:ext uri="{BB962C8B-B14F-4D97-AF65-F5344CB8AC3E}">
        <p14:creationId xmlns:p14="http://schemas.microsoft.com/office/powerpoint/2010/main" val="23744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95536" y="980728"/>
            <a:ext cx="8352928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89247"/>
            <a:ext cx="3672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2-1. </a:t>
            </a:r>
            <a:r>
              <a:rPr lang="ko-KR" altLang="en-US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2" y="533815"/>
            <a:ext cx="1585352" cy="31097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25" t="7852" r="31101" b="25024"/>
          <a:stretch/>
        </p:blipFill>
        <p:spPr>
          <a:xfrm>
            <a:off x="1781690" y="1628800"/>
            <a:ext cx="5580620" cy="479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780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95536" y="980728"/>
            <a:ext cx="8352928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89247"/>
            <a:ext cx="3672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2-2. </a:t>
            </a:r>
            <a:r>
              <a:rPr lang="ko-KR" altLang="en-US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2" y="533815"/>
            <a:ext cx="1585352" cy="31097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9" t="1536" r="16582" b="23238"/>
          <a:stretch/>
        </p:blipFill>
        <p:spPr>
          <a:xfrm>
            <a:off x="1187624" y="1628800"/>
            <a:ext cx="6543911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277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95536" y="980728"/>
            <a:ext cx="8352928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89247"/>
            <a:ext cx="3672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2-3. </a:t>
            </a:r>
            <a:r>
              <a:rPr lang="ko-KR" altLang="en-US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이메일 및 비밀번호 찾기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2" y="533815"/>
            <a:ext cx="1585352" cy="31097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00" t="14097" r="18500" b="18779"/>
          <a:stretch/>
        </p:blipFill>
        <p:spPr>
          <a:xfrm>
            <a:off x="899592" y="1700808"/>
            <a:ext cx="7598166" cy="408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68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95536" y="980728"/>
            <a:ext cx="8352928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89247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2-4. </a:t>
            </a:r>
            <a:r>
              <a:rPr lang="ko-KR" altLang="en-US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예약 신청</a:t>
            </a:r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000" dirty="0">
              <a:solidFill>
                <a:srgbClr val="0042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2" y="533815"/>
            <a:ext cx="1585352" cy="31097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162387"/>
            <a:ext cx="8178573" cy="490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469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95536" y="980728"/>
            <a:ext cx="8352928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89247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2-5. </a:t>
            </a:r>
            <a:r>
              <a:rPr lang="ko-KR" altLang="en-US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예약 신청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2" y="533815"/>
            <a:ext cx="1585352" cy="31097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117818"/>
            <a:ext cx="6405871" cy="526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858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95536" y="980728"/>
            <a:ext cx="8352928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89247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2-6. </a:t>
            </a:r>
            <a:r>
              <a:rPr lang="ko-KR" altLang="en-US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나의 예약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2" y="533815"/>
            <a:ext cx="1585352" cy="31097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08" y="1730205"/>
            <a:ext cx="7814696" cy="43924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640" y="2708920"/>
            <a:ext cx="3893615" cy="248984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 bwMode="auto">
          <a:xfrm>
            <a:off x="5372631" y="3212976"/>
            <a:ext cx="504056" cy="27394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227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95536" y="980728"/>
            <a:ext cx="8352928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89247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2-7. </a:t>
            </a:r>
            <a:r>
              <a:rPr lang="ko-KR" altLang="en-US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용병 구인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2" y="533815"/>
            <a:ext cx="1585352" cy="31097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700808"/>
            <a:ext cx="7870797" cy="442402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5736" y="2801774"/>
            <a:ext cx="3898404" cy="111104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 bwMode="auto">
          <a:xfrm>
            <a:off x="6490184" y="2492896"/>
            <a:ext cx="504056" cy="288032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222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95536" y="980728"/>
            <a:ext cx="8352928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89247"/>
            <a:ext cx="3672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2-8. </a:t>
            </a:r>
            <a:r>
              <a:rPr lang="ko-KR" altLang="en-US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정보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2" y="533815"/>
            <a:ext cx="1585352" cy="31097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37" y="1268760"/>
            <a:ext cx="8240019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653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95536" y="980728"/>
            <a:ext cx="8352928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89247"/>
            <a:ext cx="3672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2-9. </a:t>
            </a:r>
            <a:r>
              <a:rPr lang="ko-KR" altLang="en-US" sz="2000" dirty="0" err="1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풋살장</a:t>
            </a:r>
            <a:r>
              <a:rPr lang="ko-KR" altLang="en-US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정보 관리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2" y="533815"/>
            <a:ext cx="1585352" cy="31097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1110962"/>
            <a:ext cx="4817202" cy="539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39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95536" y="980728"/>
            <a:ext cx="8352928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89247"/>
            <a:ext cx="3672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2-9. </a:t>
            </a:r>
            <a:r>
              <a:rPr lang="ko-KR" altLang="en-US" sz="2000" dirty="0" err="1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풋살장</a:t>
            </a:r>
            <a:r>
              <a:rPr lang="ko-KR" altLang="en-US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정보 관리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2" y="533815"/>
            <a:ext cx="1585352" cy="31097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338" y="1102435"/>
            <a:ext cx="6293014" cy="574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72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95536" y="980728"/>
            <a:ext cx="8352928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89247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2-10. </a:t>
            </a:r>
            <a:r>
              <a:rPr lang="ko-KR" altLang="en-US" sz="2000" dirty="0" err="1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경기장별</a:t>
            </a:r>
            <a:r>
              <a:rPr lang="ko-KR" altLang="en-US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예약 조회 및 등록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2" y="533815"/>
            <a:ext cx="1585352" cy="31097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162387"/>
            <a:ext cx="8077491" cy="475252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648" y="2132856"/>
            <a:ext cx="3962028" cy="1882782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 bwMode="auto">
          <a:xfrm>
            <a:off x="6659056" y="3140968"/>
            <a:ext cx="577240" cy="216024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355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95536" y="980728"/>
            <a:ext cx="8352928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89247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2-11. </a:t>
            </a:r>
            <a:r>
              <a:rPr lang="ko-KR" altLang="en-US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자유 게시판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2" y="533815"/>
            <a:ext cx="1585352" cy="31097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162387"/>
            <a:ext cx="8176498" cy="451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319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95536" y="980728"/>
            <a:ext cx="8352928" cy="45719"/>
          </a:xfrm>
          <a:prstGeom prst="rect">
            <a:avLst/>
          </a:prstGeom>
          <a:solidFill>
            <a:srgbClr val="007DC5"/>
          </a:solidFill>
          <a:ln w="19050" cap="flat" cmpd="sng" algn="ctr">
            <a:noFill/>
            <a:prstDash val="sysDash"/>
            <a:round/>
            <a:headEnd type="none" w="med" len="med"/>
            <a:tailEnd type="triangle" w="sm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89247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2-12. </a:t>
            </a:r>
            <a:r>
              <a:rPr lang="ko-KR" altLang="en-US" sz="2000" dirty="0" err="1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게시글</a:t>
            </a:r>
            <a:r>
              <a:rPr lang="ko-KR" altLang="en-US" sz="2000" dirty="0">
                <a:solidFill>
                  <a:srgbClr val="0042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조회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2" y="533815"/>
            <a:ext cx="1585352" cy="31097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117818"/>
            <a:ext cx="6003976" cy="529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416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18" y="5549524"/>
            <a:ext cx="9144000" cy="13084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77887" y="2564904"/>
            <a:ext cx="40559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4000" b="1" dirty="0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 시연</a:t>
            </a:r>
          </a:p>
        </p:txBody>
      </p:sp>
    </p:spTree>
    <p:extLst>
      <p:ext uri="{BB962C8B-B14F-4D97-AF65-F5344CB8AC3E}">
        <p14:creationId xmlns:p14="http://schemas.microsoft.com/office/powerpoint/2010/main" val="1938687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18" y="5549524"/>
            <a:ext cx="9144000" cy="13084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77887" y="2564904"/>
            <a:ext cx="35429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4000" b="1" dirty="0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아쉬웠던 점</a:t>
            </a:r>
          </a:p>
        </p:txBody>
      </p:sp>
    </p:spTree>
    <p:extLst>
      <p:ext uri="{BB962C8B-B14F-4D97-AF65-F5344CB8AC3E}">
        <p14:creationId xmlns:p14="http://schemas.microsoft.com/office/powerpoint/2010/main" val="220528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18" y="5549524"/>
            <a:ext cx="9144000" cy="130847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99" y="1565404"/>
            <a:ext cx="3429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64857" y="2767280"/>
            <a:ext cx="25922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0" b="1" dirty="0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Q&amp;A</a:t>
            </a:r>
            <a:endParaRPr lang="ko-KR" altLang="en-US" sz="9600" b="1" dirty="0">
              <a:solidFill>
                <a:srgbClr val="3A6D9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85716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18" y="5549524"/>
            <a:ext cx="9144000" cy="13084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96530" y="2130639"/>
            <a:ext cx="453650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b="1" dirty="0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r>
              <a:rPr lang="en-US" altLang="ko-KR" sz="6600" b="1" dirty="0">
                <a:solidFill>
                  <a:srgbClr val="3A6D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504" y="3330968"/>
            <a:ext cx="2218556" cy="221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888626"/>
      </p:ext>
    </p:extLst>
  </p:cSld>
  <p:clrMapOvr>
    <a:masterClrMapping/>
  </p:clrMapOvr>
</p:sld>
</file>

<file path=ppt/theme/theme1.xml><?xml version="1.0" encoding="utf-8"?>
<a:theme xmlns:a="http://schemas.openxmlformats.org/drawingml/2006/main" name="8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AEAEA"/>
        </a:solidFill>
        <a:ln w="19050" cap="flat" cmpd="sng" algn="ctr">
          <a:solidFill>
            <a:srgbClr val="C00000"/>
          </a:solidFill>
          <a:prstDash val="sysDash"/>
          <a:round/>
          <a:headEnd type="none" w="med" len="med"/>
          <a:tailEnd type="triangle" w="sm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solidFill>
          <a:srgbClr val="EAEAEA"/>
        </a:solidFill>
        <a:ln w="22225" cap="flat" cmpd="sng" algn="ctr">
          <a:solidFill>
            <a:srgbClr val="C00000"/>
          </a:solidFill>
          <a:prstDash val="sysDash"/>
          <a:round/>
          <a:headEnd type="none" w="med" len="med"/>
          <a:tailEnd type="triangle"/>
        </a:ln>
        <a:effectLst/>
      </a:spPr>
      <a:bodyPr/>
      <a:lstStyle/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28297</TotalTime>
  <Words>997</Words>
  <Application>Microsoft Macintosh PowerPoint</Application>
  <PresentationFormat>화면 슬라이드 쇼(4:3)</PresentationFormat>
  <Paragraphs>175</Paragraphs>
  <Slides>28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굴림</vt:lpstr>
      <vt:lpstr>맑은 고딕</vt:lpstr>
      <vt:lpstr>Arial</vt:lpstr>
      <vt:lpstr>8_기본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 A TITLE SLIDE</dc:title>
  <dc:creator>eugene</dc:creator>
  <cp:lastModifiedBy>김은섭</cp:lastModifiedBy>
  <cp:revision>2571</cp:revision>
  <cp:lastPrinted>2016-01-07T02:18:47Z</cp:lastPrinted>
  <dcterms:created xsi:type="dcterms:W3CDTF">2012-12-28T02:22:59Z</dcterms:created>
  <dcterms:modified xsi:type="dcterms:W3CDTF">2022-03-27T13:00:12Z</dcterms:modified>
</cp:coreProperties>
</file>